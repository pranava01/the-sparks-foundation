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Calibri" panose="020F0502020204030204" pitchFamily="34" charset="0"/>
      <p:regular r:id="rId13"/>
      <p:bold r:id="rId14"/>
      <p:italic r:id="rId15"/>
      <p:boldItalic r:id="rId16"/>
    </p:embeddedFont>
    <p:embeddedFont>
      <p:font typeface="Lato" panose="02000000000000000000" pitchFamily="2" charset="0"/>
      <p:regular r:id="rId17"/>
      <p:bold r:id="rId18"/>
      <p:italic r:id="rId19"/>
      <p:boldItalic r:id="rId20"/>
    </p:embeddedFont>
    <p:embeddedFont>
      <p:font typeface="Nunito" pitchFamily="2" charset="0"/>
      <p:regular r:id="rId21"/>
      <p:bold r:id="rId22"/>
      <p:italic r:id="rId23"/>
      <p:boldItalic r:id="rId24"/>
    </p:embeddedFont>
    <p:embeddedFont>
      <p:font typeface="Raleway" panose="020000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70" y="-73"/>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font" Target="fonts/font1.fntdata" /><Relationship Id="rId18" Type="http://schemas.openxmlformats.org/officeDocument/2006/relationships/font" Target="fonts/font6.fntdata" /><Relationship Id="rId26" Type="http://schemas.openxmlformats.org/officeDocument/2006/relationships/font" Target="fonts/font14.fntdata" /><Relationship Id="rId3" Type="http://schemas.openxmlformats.org/officeDocument/2006/relationships/slide" Target="slides/slide2.xml" /><Relationship Id="rId21" Type="http://schemas.openxmlformats.org/officeDocument/2006/relationships/font" Target="fonts/font9.fntdata" /><Relationship Id="rId7" Type="http://schemas.openxmlformats.org/officeDocument/2006/relationships/slide" Target="slides/slide6.xml" /><Relationship Id="rId12" Type="http://schemas.openxmlformats.org/officeDocument/2006/relationships/notesMaster" Target="notesMasters/notesMaster1.xml" /><Relationship Id="rId17" Type="http://schemas.openxmlformats.org/officeDocument/2006/relationships/font" Target="fonts/font5.fntdata" /><Relationship Id="rId25" Type="http://schemas.openxmlformats.org/officeDocument/2006/relationships/font" Target="fonts/font13.fntdata" /><Relationship Id="rId2" Type="http://schemas.openxmlformats.org/officeDocument/2006/relationships/slide" Target="slides/slide1.xml" /><Relationship Id="rId16" Type="http://schemas.openxmlformats.org/officeDocument/2006/relationships/font" Target="fonts/font4.fntdata" /><Relationship Id="rId20" Type="http://schemas.openxmlformats.org/officeDocument/2006/relationships/font" Target="fonts/font8.fntdata" /><Relationship Id="rId29"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12.fntdata" /><Relationship Id="rId32"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font" Target="fonts/font3.fntdata" /><Relationship Id="rId23" Type="http://schemas.openxmlformats.org/officeDocument/2006/relationships/font" Target="fonts/font11.fntdata" /><Relationship Id="rId28" Type="http://schemas.openxmlformats.org/officeDocument/2006/relationships/font" Target="fonts/font16.fntdata" /><Relationship Id="rId10" Type="http://schemas.openxmlformats.org/officeDocument/2006/relationships/slide" Target="slides/slide9.xml" /><Relationship Id="rId19" Type="http://schemas.openxmlformats.org/officeDocument/2006/relationships/font" Target="fonts/font7.fntdata" /><Relationship Id="rId31"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2.fntdata" /><Relationship Id="rId22" Type="http://schemas.openxmlformats.org/officeDocument/2006/relationships/font" Target="fonts/font10.fntdata" /><Relationship Id="rId27" Type="http://schemas.openxmlformats.org/officeDocument/2006/relationships/font" Target="fonts/font15.fntdata" /><Relationship Id="rId30"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cb9a0b07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cb9a0b07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0f69079be0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0f69079be0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23630543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2363054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0f69079be0_0_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0f69079be0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d251bb473_0_6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d251bb473_0_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d251bb473_0_6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d251bb473_0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723630543_1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723630543_1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e965474a9_3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e965474a9_3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cb9a0b074_1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cb9a0b074_1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0f69079be0_0_2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10f69079be0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3.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8.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3.xml"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7.xml" /><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5.xml" /></Relationships>
</file>

<file path=ppt/slides/_rels/slide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9.xml" /><Relationship Id="rId1" Type="http://schemas.openxmlformats.org/officeDocument/2006/relationships/slideLayout" Target="../slideLayouts/slideLayout1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title"/>
          </p:nvPr>
        </p:nvSpPr>
        <p:spPr>
          <a:xfrm>
            <a:off x="729450" y="1318975"/>
            <a:ext cx="7688700" cy="1441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4800"/>
              <a:t>Title:</a:t>
            </a:r>
            <a:br>
              <a:rPr lang="en" sz="4800"/>
            </a:br>
            <a:r>
              <a:rPr lang="en" sz="4800"/>
              <a:t>Data Science and Business Analytics Internship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4"/>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      </a:t>
            </a:r>
            <a:r>
              <a:rPr lang="en" sz="3133">
                <a:solidFill>
                  <a:srgbClr val="000000"/>
                </a:solidFill>
              </a:rPr>
              <a:t>Overview</a:t>
            </a:r>
            <a:endParaRPr sz="3133">
              <a:solidFill>
                <a:srgbClr val="000000"/>
              </a:solidFill>
            </a:endParaRPr>
          </a:p>
        </p:txBody>
      </p:sp>
      <p:sp>
        <p:nvSpPr>
          <p:cNvPr id="134" name="Google Shape;134;p14"/>
          <p:cNvSpPr txBox="1">
            <a:spLocks noGrp="1"/>
          </p:cNvSpPr>
          <p:nvPr>
            <p:ph type="body" idx="2"/>
          </p:nvPr>
        </p:nvSpPr>
        <p:spPr>
          <a:xfrm>
            <a:off x="5072225" y="663750"/>
            <a:ext cx="3386700" cy="328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b="1" dirty="0">
                <a:solidFill>
                  <a:schemeClr val="lt1"/>
                </a:solidFill>
              </a:rPr>
              <a:t>Starting date</a:t>
            </a:r>
            <a:endParaRPr sz="1800" b="1">
              <a:solidFill>
                <a:schemeClr val="lt1"/>
              </a:solidFill>
            </a:endParaRPr>
          </a:p>
          <a:p>
            <a:pPr marL="0" lvl="0" indent="457200" algn="l" rtl="0">
              <a:spcBef>
                <a:spcPts val="0"/>
              </a:spcBef>
              <a:spcAft>
                <a:spcPts val="0"/>
              </a:spcAft>
              <a:buNone/>
            </a:pPr>
            <a:r>
              <a:rPr lang="en" sz="1700">
                <a:solidFill>
                  <a:schemeClr val="dk2"/>
                </a:solidFill>
              </a:rPr>
              <a:t>September 1</a:t>
            </a:r>
            <a:r>
              <a:rPr lang="en" sz="1700" dirty="0">
                <a:solidFill>
                  <a:schemeClr val="dk2"/>
                </a:solidFill>
              </a:rPr>
              <a:t>, 2021</a:t>
            </a:r>
            <a:endParaRPr sz="1700">
              <a:solidFill>
                <a:schemeClr val="dk2"/>
              </a:solidFill>
            </a:endParaRPr>
          </a:p>
          <a:p>
            <a:pPr marL="0" lvl="0" indent="0" algn="l" rtl="0">
              <a:spcBef>
                <a:spcPts val="1600"/>
              </a:spcBef>
              <a:spcAft>
                <a:spcPts val="0"/>
              </a:spcAft>
              <a:buNone/>
            </a:pPr>
            <a:r>
              <a:rPr lang="en" sz="1800" b="1" dirty="0">
                <a:solidFill>
                  <a:schemeClr val="lt1"/>
                </a:solidFill>
              </a:rPr>
              <a:t>Duration</a:t>
            </a:r>
            <a:endParaRPr sz="1800" b="1">
              <a:solidFill>
                <a:schemeClr val="lt1"/>
              </a:solidFill>
            </a:endParaRPr>
          </a:p>
          <a:p>
            <a:pPr marL="0" lvl="0" indent="457200" algn="l" rtl="0">
              <a:spcBef>
                <a:spcPts val="0"/>
              </a:spcBef>
              <a:spcAft>
                <a:spcPts val="0"/>
              </a:spcAft>
              <a:buNone/>
            </a:pPr>
            <a:r>
              <a:rPr lang="en" sz="1700" dirty="0">
                <a:solidFill>
                  <a:schemeClr val="dk2"/>
                </a:solidFill>
              </a:rPr>
              <a:t>1 month</a:t>
            </a:r>
            <a:endParaRPr sz="1700">
              <a:solidFill>
                <a:schemeClr val="dk2"/>
              </a:solidFill>
            </a:endParaRPr>
          </a:p>
          <a:p>
            <a:pPr marL="0" lvl="0" indent="457200" algn="l" rtl="0">
              <a:spcBef>
                <a:spcPts val="0"/>
              </a:spcBef>
              <a:spcAft>
                <a:spcPts val="0"/>
              </a:spcAft>
              <a:buNone/>
            </a:pPr>
            <a:endParaRPr sz="1500">
              <a:solidFill>
                <a:schemeClr val="dk2"/>
              </a:solidFill>
            </a:endParaRPr>
          </a:p>
          <a:p>
            <a:pPr marL="0" lvl="0" indent="0" algn="l" rtl="0">
              <a:spcBef>
                <a:spcPts val="0"/>
              </a:spcBef>
              <a:spcAft>
                <a:spcPts val="0"/>
              </a:spcAft>
              <a:buNone/>
            </a:pPr>
            <a:r>
              <a:rPr lang="en" sz="1800" b="1" dirty="0">
                <a:solidFill>
                  <a:schemeClr val="lt1"/>
                </a:solidFill>
              </a:rPr>
              <a:t>Organization</a:t>
            </a:r>
            <a:endParaRPr sz="1800" b="1">
              <a:solidFill>
                <a:schemeClr val="lt1"/>
              </a:solidFill>
            </a:endParaRPr>
          </a:p>
          <a:p>
            <a:pPr marL="0" lvl="0" indent="457200" algn="l" rtl="0">
              <a:spcBef>
                <a:spcPts val="0"/>
              </a:spcBef>
              <a:spcAft>
                <a:spcPts val="0"/>
              </a:spcAft>
              <a:buNone/>
            </a:pPr>
            <a:r>
              <a:rPr lang="en" sz="1700" dirty="0">
                <a:solidFill>
                  <a:schemeClr val="dk2"/>
                </a:solidFill>
              </a:rPr>
              <a:t>The Sparks Foundation</a:t>
            </a:r>
            <a:endParaRPr sz="1700">
              <a:solidFill>
                <a:schemeClr val="dk2"/>
              </a:solidFill>
            </a:endParaRPr>
          </a:p>
          <a:p>
            <a:pPr marL="457200" lvl="0" indent="0" algn="l" rtl="0">
              <a:spcBef>
                <a:spcPts val="0"/>
              </a:spcBef>
              <a:spcAft>
                <a:spcPts val="0"/>
              </a:spcAft>
              <a:buNone/>
            </a:pPr>
            <a:r>
              <a:rPr lang="en" sz="1700" dirty="0">
                <a:solidFill>
                  <a:schemeClr val="dk2"/>
                </a:solidFill>
              </a:rPr>
              <a:t>Graduate Rotational Internship Program</a:t>
            </a:r>
            <a:endParaRPr sz="15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38"/>
        <p:cNvGrpSpPr/>
        <p:nvPr/>
      </p:nvGrpSpPr>
      <p:grpSpPr>
        <a:xfrm>
          <a:off x="0" y="0"/>
          <a:ext cx="0" cy="0"/>
          <a:chOff x="0" y="0"/>
          <a:chExt cx="0" cy="0"/>
        </a:xfrm>
      </p:grpSpPr>
      <p:sp>
        <p:nvSpPr>
          <p:cNvPr id="139" name="Google Shape;139;p15"/>
          <p:cNvSpPr txBox="1">
            <a:spLocks noGrp="1"/>
          </p:cNvSpPr>
          <p:nvPr>
            <p:ph type="body" idx="1"/>
          </p:nvPr>
        </p:nvSpPr>
        <p:spPr>
          <a:xfrm>
            <a:off x="645575" y="1450000"/>
            <a:ext cx="7679400" cy="29886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Clr>
                <a:srgbClr val="000000"/>
              </a:buClr>
              <a:buSzPts val="2000"/>
              <a:buFont typeface="Lato"/>
              <a:buChar char="●"/>
            </a:pPr>
            <a:r>
              <a:rPr lang="en" sz="2000">
                <a:solidFill>
                  <a:srgbClr val="000000"/>
                </a:solidFill>
                <a:latin typeface="Lato"/>
                <a:ea typeface="Lato"/>
                <a:cs typeface="Lato"/>
                <a:sym typeface="Lato"/>
              </a:rPr>
              <a:t>News and Historical Sensex datasets were used.</a:t>
            </a:r>
            <a:endParaRPr sz="2000">
              <a:solidFill>
                <a:srgbClr val="000000"/>
              </a:solidFill>
              <a:latin typeface="Lato"/>
              <a:ea typeface="Lato"/>
              <a:cs typeface="Lato"/>
              <a:sym typeface="Lato"/>
            </a:endParaRPr>
          </a:p>
          <a:p>
            <a:pPr marL="457200" lvl="0" indent="-355600" algn="l" rtl="0">
              <a:spcBef>
                <a:spcPts val="0"/>
              </a:spcBef>
              <a:spcAft>
                <a:spcPts val="0"/>
              </a:spcAft>
              <a:buClr>
                <a:srgbClr val="000000"/>
              </a:buClr>
              <a:buSzPts val="2000"/>
              <a:buFont typeface="Lato"/>
              <a:buChar char="●"/>
            </a:pPr>
            <a:r>
              <a:rPr lang="en" sz="2000">
                <a:solidFill>
                  <a:srgbClr val="000000"/>
                </a:solidFill>
                <a:latin typeface="Lato"/>
                <a:ea typeface="Lato"/>
                <a:cs typeface="Lato"/>
                <a:sym typeface="Lato"/>
              </a:rPr>
              <a:t>The subjectivity and polarity of news articles is determined using sentiment analysis.</a:t>
            </a:r>
            <a:endParaRPr sz="2000">
              <a:solidFill>
                <a:srgbClr val="000000"/>
              </a:solidFill>
              <a:latin typeface="Lato"/>
              <a:ea typeface="Lato"/>
              <a:cs typeface="Lato"/>
              <a:sym typeface="Lato"/>
            </a:endParaRPr>
          </a:p>
          <a:p>
            <a:pPr marL="457200" lvl="0" indent="-355600" algn="l" rtl="0">
              <a:spcBef>
                <a:spcPts val="0"/>
              </a:spcBef>
              <a:spcAft>
                <a:spcPts val="0"/>
              </a:spcAft>
              <a:buClr>
                <a:srgbClr val="000000"/>
              </a:buClr>
              <a:buSzPts val="2000"/>
              <a:buFont typeface="Lato"/>
              <a:buChar char="●"/>
            </a:pPr>
            <a:r>
              <a:rPr lang="en" sz="2000">
                <a:solidFill>
                  <a:srgbClr val="000000"/>
                </a:solidFill>
                <a:latin typeface="Lato"/>
                <a:ea typeface="Lato"/>
                <a:cs typeface="Lato"/>
                <a:sym typeface="Lato"/>
              </a:rPr>
              <a:t>Using sentiment intensity analysis, the correlation between sensex and each news article is determined.</a:t>
            </a:r>
            <a:endParaRPr sz="2000">
              <a:solidFill>
                <a:srgbClr val="000000"/>
              </a:solidFill>
              <a:latin typeface="Lato"/>
              <a:ea typeface="Lato"/>
              <a:cs typeface="Lato"/>
              <a:sym typeface="Lato"/>
            </a:endParaRPr>
          </a:p>
          <a:p>
            <a:pPr marL="457200" lvl="0" indent="-355600" algn="l" rtl="0">
              <a:spcBef>
                <a:spcPts val="0"/>
              </a:spcBef>
              <a:spcAft>
                <a:spcPts val="0"/>
              </a:spcAft>
              <a:buClr>
                <a:srgbClr val="000000"/>
              </a:buClr>
              <a:buSzPts val="2000"/>
              <a:buFont typeface="Lato"/>
              <a:buChar char="●"/>
            </a:pPr>
            <a:r>
              <a:rPr lang="en" sz="2000">
                <a:solidFill>
                  <a:srgbClr val="000000"/>
                </a:solidFill>
                <a:highlight>
                  <a:schemeClr val="dk1"/>
                </a:highlight>
                <a:latin typeface="Lato"/>
                <a:ea typeface="Lato"/>
                <a:cs typeface="Lato"/>
                <a:sym typeface="Lato"/>
              </a:rPr>
              <a:t>Newsdata set is collected from finance.yahoo.com.</a:t>
            </a:r>
            <a:endParaRPr sz="2000">
              <a:solidFill>
                <a:srgbClr val="000000"/>
              </a:solidFill>
              <a:highlight>
                <a:schemeClr val="dk1"/>
              </a:highlight>
              <a:latin typeface="Lato"/>
              <a:ea typeface="Lato"/>
              <a:cs typeface="Lato"/>
              <a:sym typeface="Lato"/>
            </a:endParaRPr>
          </a:p>
          <a:p>
            <a:pPr marL="457200" lvl="0" indent="-355600" algn="l" rtl="0">
              <a:spcBef>
                <a:spcPts val="0"/>
              </a:spcBef>
              <a:spcAft>
                <a:spcPts val="0"/>
              </a:spcAft>
              <a:buClr>
                <a:srgbClr val="000000"/>
              </a:buClr>
              <a:buSzPts val="2000"/>
              <a:buFont typeface="Lato"/>
              <a:buChar char="●"/>
            </a:pPr>
            <a:r>
              <a:rPr lang="en" sz="2000">
                <a:solidFill>
                  <a:srgbClr val="000000"/>
                </a:solidFill>
                <a:highlight>
                  <a:schemeClr val="dk1"/>
                </a:highlight>
                <a:latin typeface="Lato"/>
                <a:ea typeface="Lato"/>
                <a:cs typeface="Lato"/>
                <a:sym typeface="Lato"/>
              </a:rPr>
              <a:t>The stock to predict and analyze is SENSEX.</a:t>
            </a:r>
            <a:endParaRPr sz="2250">
              <a:solidFill>
                <a:srgbClr val="000000"/>
              </a:solidFill>
              <a:latin typeface="Lato"/>
              <a:ea typeface="Lato"/>
              <a:cs typeface="Lato"/>
              <a:sym typeface="Lato"/>
            </a:endParaRPr>
          </a:p>
        </p:txBody>
      </p:sp>
      <p:sp>
        <p:nvSpPr>
          <p:cNvPr id="140" name="Google Shape;140;p1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lnSpc>
                <a:spcPct val="115000"/>
              </a:lnSpc>
              <a:spcBef>
                <a:spcPts val="1400"/>
              </a:spcBef>
              <a:spcAft>
                <a:spcPts val="400"/>
              </a:spcAft>
              <a:buNone/>
            </a:pPr>
            <a:r>
              <a:rPr lang="en" sz="2466">
                <a:solidFill>
                  <a:schemeClr val="accent2"/>
                </a:solidFill>
                <a:highlight>
                  <a:srgbClr val="FFFFFF"/>
                </a:highlight>
                <a:latin typeface="Arial"/>
                <a:ea typeface="Arial"/>
                <a:cs typeface="Arial"/>
                <a:sym typeface="Arial"/>
              </a:rPr>
              <a:t>Stock Market Prediction</a:t>
            </a:r>
            <a:r>
              <a:rPr lang="en" sz="1966">
                <a:solidFill>
                  <a:schemeClr val="accent2"/>
                </a:solidFill>
                <a:highlight>
                  <a:srgbClr val="FFFFFF"/>
                </a:highlight>
                <a:latin typeface="Arial"/>
                <a:ea typeface="Arial"/>
                <a:cs typeface="Arial"/>
                <a:sym typeface="Arial"/>
              </a:rPr>
              <a:t> </a:t>
            </a:r>
            <a:endParaRPr>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6"/>
          <p:cNvSpPr txBox="1">
            <a:spLocks noGrp="1"/>
          </p:cNvSpPr>
          <p:nvPr>
            <p:ph type="body" idx="1"/>
          </p:nvPr>
        </p:nvSpPr>
        <p:spPr>
          <a:xfrm>
            <a:off x="484300" y="430775"/>
            <a:ext cx="7840500" cy="4008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a:solidFill>
                  <a:srgbClr val="000000"/>
                </a:solidFill>
                <a:highlight>
                  <a:schemeClr val="dk1"/>
                </a:highlight>
                <a:latin typeface="Lato"/>
                <a:ea typeface="Lato"/>
                <a:cs typeface="Lato"/>
                <a:sym typeface="Lato"/>
              </a:rPr>
              <a:t>        </a:t>
            </a:r>
            <a:r>
              <a:rPr lang="en" sz="2500">
                <a:solidFill>
                  <a:schemeClr val="accent2"/>
                </a:solidFill>
                <a:highlight>
                  <a:schemeClr val="dk1"/>
                </a:highlight>
                <a:latin typeface="Lato"/>
                <a:ea typeface="Lato"/>
                <a:cs typeface="Lato"/>
                <a:sym typeface="Lato"/>
              </a:rPr>
              <a:t>  Stock Market Prediction</a:t>
            </a:r>
            <a:endParaRPr sz="2500">
              <a:solidFill>
                <a:schemeClr val="accent2"/>
              </a:solidFill>
              <a:highlight>
                <a:schemeClr val="dk1"/>
              </a:highlight>
              <a:latin typeface="Lato"/>
              <a:ea typeface="Lato"/>
              <a:cs typeface="Lato"/>
              <a:sym typeface="Lato"/>
            </a:endParaRPr>
          </a:p>
          <a:p>
            <a:pPr marL="457200" lvl="0" indent="-355600" algn="l" rtl="0">
              <a:spcBef>
                <a:spcPts val="1200"/>
              </a:spcBef>
              <a:spcAft>
                <a:spcPts val="0"/>
              </a:spcAft>
              <a:buClr>
                <a:srgbClr val="000000"/>
              </a:buClr>
              <a:buSzPts val="2000"/>
              <a:buFont typeface="Lato"/>
              <a:buChar char="●"/>
            </a:pPr>
            <a:r>
              <a:rPr lang="en" sz="2000">
                <a:solidFill>
                  <a:srgbClr val="000000"/>
                </a:solidFill>
                <a:latin typeface="Lato"/>
                <a:ea typeface="Lato"/>
                <a:cs typeface="Lato"/>
                <a:sym typeface="Lato"/>
              </a:rPr>
              <a:t>The two datasets were then merged through inner join for training.</a:t>
            </a:r>
            <a:endParaRPr sz="2000">
              <a:solidFill>
                <a:srgbClr val="000000"/>
              </a:solidFill>
              <a:latin typeface="Lato"/>
              <a:ea typeface="Lato"/>
              <a:cs typeface="Lato"/>
              <a:sym typeface="Lato"/>
            </a:endParaRPr>
          </a:p>
          <a:p>
            <a:pPr marL="457200" lvl="0" indent="-355600" algn="l" rtl="0">
              <a:spcBef>
                <a:spcPts val="0"/>
              </a:spcBef>
              <a:spcAft>
                <a:spcPts val="0"/>
              </a:spcAft>
              <a:buClr>
                <a:srgbClr val="000000"/>
              </a:buClr>
              <a:buSzPts val="2000"/>
              <a:buFont typeface="Lato"/>
              <a:buChar char="●"/>
            </a:pPr>
            <a:r>
              <a:rPr lang="en" sz="2000">
                <a:solidFill>
                  <a:srgbClr val="000000"/>
                </a:solidFill>
                <a:latin typeface="Lato"/>
                <a:ea typeface="Lato"/>
                <a:cs typeface="Lato"/>
                <a:sym typeface="Lato"/>
              </a:rPr>
              <a:t>The dataset is then used for training different machine learning models, namely Random Forest Regression, Decision Tree Regression and XGBoost Regression.</a:t>
            </a:r>
            <a:endParaRPr sz="2000">
              <a:solidFill>
                <a:srgbClr val="000000"/>
              </a:solidFill>
              <a:latin typeface="Lato"/>
              <a:ea typeface="Lato"/>
              <a:cs typeface="Lato"/>
              <a:sym typeface="Lato"/>
            </a:endParaRPr>
          </a:p>
          <a:p>
            <a:pPr marL="457200" lvl="0" indent="-355600" algn="l" rtl="0">
              <a:spcBef>
                <a:spcPts val="0"/>
              </a:spcBef>
              <a:spcAft>
                <a:spcPts val="0"/>
              </a:spcAft>
              <a:buClr>
                <a:srgbClr val="000000"/>
              </a:buClr>
              <a:buSzPts val="2000"/>
              <a:buFont typeface="Lato"/>
              <a:buChar char="●"/>
            </a:pPr>
            <a:r>
              <a:rPr lang="en" sz="2000">
                <a:solidFill>
                  <a:srgbClr val="000000"/>
                </a:solidFill>
                <a:latin typeface="Lato"/>
                <a:ea typeface="Lato"/>
                <a:cs typeface="Lato"/>
                <a:sym typeface="Lato"/>
              </a:rPr>
              <a:t>The mean squared error between the predictions and the actual outputs in the test data were compared.</a:t>
            </a:r>
            <a:endParaRPr sz="2800">
              <a:solidFill>
                <a:schemeClr val="accent2"/>
              </a:solidFill>
              <a:highlight>
                <a:schemeClr val="dk1"/>
              </a:highlight>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7"/>
          <p:cNvSpPr txBox="1">
            <a:spLocks noGrp="1"/>
          </p:cNvSpPr>
          <p:nvPr>
            <p:ph type="title"/>
          </p:nvPr>
        </p:nvSpPr>
        <p:spPr>
          <a:xfrm>
            <a:off x="283100" y="712150"/>
            <a:ext cx="8631600" cy="3835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700" b="1">
                <a:solidFill>
                  <a:schemeClr val="accent2"/>
                </a:solidFill>
                <a:latin typeface="Lato"/>
                <a:ea typeface="Lato"/>
                <a:cs typeface="Lato"/>
                <a:sym typeface="Lato"/>
              </a:rPr>
              <a:t>Dataset</a:t>
            </a:r>
            <a:endParaRPr sz="2700" b="1">
              <a:solidFill>
                <a:schemeClr val="accent2"/>
              </a:solidFill>
              <a:latin typeface="Lato"/>
              <a:ea typeface="Lato"/>
              <a:cs typeface="Lato"/>
              <a:sym typeface="Lato"/>
            </a:endParaRPr>
          </a:p>
        </p:txBody>
      </p:sp>
      <p:pic>
        <p:nvPicPr>
          <p:cNvPr id="151" name="Google Shape;151;p17"/>
          <p:cNvPicPr preferRelativeResize="0"/>
          <p:nvPr/>
        </p:nvPicPr>
        <p:blipFill>
          <a:blip r:embed="rId3">
            <a:alphaModFix/>
          </a:blip>
          <a:stretch>
            <a:fillRect/>
          </a:stretch>
        </p:blipFill>
        <p:spPr>
          <a:xfrm>
            <a:off x="527050" y="1449950"/>
            <a:ext cx="8089900" cy="2913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8"/>
          <p:cNvSpPr txBox="1">
            <a:spLocks noGrp="1"/>
          </p:cNvSpPr>
          <p:nvPr>
            <p:ph type="title"/>
          </p:nvPr>
        </p:nvSpPr>
        <p:spPr>
          <a:xfrm>
            <a:off x="251300" y="1488150"/>
            <a:ext cx="8654100" cy="3059400"/>
          </a:xfrm>
          <a:prstGeom prst="rect">
            <a:avLst/>
          </a:prstGeom>
        </p:spPr>
        <p:txBody>
          <a:bodyPr spcFirstLastPara="1" wrap="square" lIns="91425" tIns="91425" rIns="91425" bIns="91425" anchor="t" anchorCtr="0">
            <a:normAutofit/>
          </a:bodyPr>
          <a:lstStyle/>
          <a:p>
            <a:pPr marL="457200" lvl="0" indent="-374650" algn="l" rtl="0">
              <a:spcBef>
                <a:spcPts val="0"/>
              </a:spcBef>
              <a:spcAft>
                <a:spcPts val="0"/>
              </a:spcAft>
              <a:buClr>
                <a:srgbClr val="000000"/>
              </a:buClr>
              <a:buSzPts val="2300"/>
              <a:buChar char="●"/>
            </a:pPr>
            <a:r>
              <a:rPr lang="en" sz="2300">
                <a:solidFill>
                  <a:srgbClr val="000000"/>
                </a:solidFill>
              </a:rPr>
              <a:t>Initially  using only the sensex dataset an ARIMA Model was trained.</a:t>
            </a:r>
            <a:endParaRPr sz="2300">
              <a:solidFill>
                <a:srgbClr val="000000"/>
              </a:solidFill>
            </a:endParaRPr>
          </a:p>
          <a:p>
            <a:pPr marL="457200" lvl="0" indent="-374650" algn="l" rtl="0">
              <a:spcBef>
                <a:spcPts val="0"/>
              </a:spcBef>
              <a:spcAft>
                <a:spcPts val="0"/>
              </a:spcAft>
              <a:buClr>
                <a:srgbClr val="000000"/>
              </a:buClr>
              <a:buSzPts val="2300"/>
              <a:buChar char="●"/>
            </a:pPr>
            <a:r>
              <a:rPr lang="en" sz="2300">
                <a:solidFill>
                  <a:srgbClr val="000000"/>
                </a:solidFill>
              </a:rPr>
              <a:t>Then the root mean square error was calculated using the test dataset.</a:t>
            </a:r>
            <a:endParaRPr sz="2300">
              <a:solidFill>
                <a:srgbClr val="000000"/>
              </a:solidFill>
            </a:endParaRPr>
          </a:p>
          <a:p>
            <a:pPr marL="457200" lvl="0" indent="-374650" algn="l" rtl="0">
              <a:spcBef>
                <a:spcPts val="0"/>
              </a:spcBef>
              <a:spcAft>
                <a:spcPts val="0"/>
              </a:spcAft>
              <a:buClr>
                <a:srgbClr val="000000"/>
              </a:buClr>
              <a:buSzPts val="2300"/>
              <a:buChar char="●"/>
            </a:pPr>
            <a:r>
              <a:rPr lang="en" sz="2300">
                <a:solidFill>
                  <a:srgbClr val="000000"/>
                </a:solidFill>
              </a:rPr>
              <a:t>Including the news data in the dataset reported a significant decrease in the mean square error and led to more accurate predictions.</a:t>
            </a:r>
            <a:endParaRPr sz="23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0"/>
        <p:cNvGrpSpPr/>
        <p:nvPr/>
      </p:nvGrpSpPr>
      <p:grpSpPr>
        <a:xfrm>
          <a:off x="0" y="0"/>
          <a:ext cx="0" cy="0"/>
          <a:chOff x="0" y="0"/>
          <a:chExt cx="0" cy="0"/>
        </a:xfrm>
      </p:grpSpPr>
      <p:pic>
        <p:nvPicPr>
          <p:cNvPr id="161" name="Google Shape;161;p19"/>
          <p:cNvPicPr preferRelativeResize="0"/>
          <p:nvPr/>
        </p:nvPicPr>
        <p:blipFill>
          <a:blip r:embed="rId3">
            <a:alphaModFix/>
          </a:blip>
          <a:stretch>
            <a:fillRect/>
          </a:stretch>
        </p:blipFill>
        <p:spPr>
          <a:xfrm>
            <a:off x="1048475" y="1245625"/>
            <a:ext cx="5753100" cy="3638550"/>
          </a:xfrm>
          <a:prstGeom prst="rect">
            <a:avLst/>
          </a:prstGeom>
          <a:noFill/>
          <a:ln>
            <a:noFill/>
          </a:ln>
        </p:spPr>
      </p:pic>
      <p:sp>
        <p:nvSpPr>
          <p:cNvPr id="162" name="Google Shape;162;p19"/>
          <p:cNvSpPr txBox="1"/>
          <p:nvPr/>
        </p:nvSpPr>
        <p:spPr>
          <a:xfrm>
            <a:off x="1918025" y="448700"/>
            <a:ext cx="39786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accent2"/>
                </a:solidFill>
                <a:latin typeface="Lato"/>
                <a:ea typeface="Lato"/>
                <a:cs typeface="Lato"/>
                <a:sym typeface="Lato"/>
              </a:rPr>
              <a:t>Merged Dataset</a:t>
            </a:r>
            <a:endParaRPr sz="2200" b="1">
              <a:solidFill>
                <a:schemeClr val="accent2"/>
              </a:solidFill>
              <a:latin typeface="Lato"/>
              <a:ea typeface="Lato"/>
              <a:cs typeface="Lato"/>
              <a:sym typeface="Lato"/>
            </a:endParaRPr>
          </a:p>
          <a:p>
            <a:pPr marL="0" lvl="0" indent="0" algn="l" rtl="0">
              <a:spcBef>
                <a:spcPts val="0"/>
              </a:spcBef>
              <a:spcAft>
                <a:spcPts val="0"/>
              </a:spcAft>
              <a:buNone/>
            </a:pPr>
            <a:endParaRPr sz="2200" b="1">
              <a:solidFill>
                <a:schemeClr val="accent2"/>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0"/>
          <p:cNvSpPr txBox="1">
            <a:spLocks noGrp="1"/>
          </p:cNvSpPr>
          <p:nvPr>
            <p:ph type="title"/>
          </p:nvPr>
        </p:nvSpPr>
        <p:spPr>
          <a:xfrm>
            <a:off x="819150" y="412850"/>
            <a:ext cx="7640100" cy="4068300"/>
          </a:xfrm>
          <a:prstGeom prst="rect">
            <a:avLst/>
          </a:prstGeom>
        </p:spPr>
        <p:txBody>
          <a:bodyPr spcFirstLastPara="1" wrap="square" lIns="91425" tIns="91425" rIns="91425" bIns="91425" anchor="ctr" anchorCtr="0">
            <a:normAutofit/>
          </a:bodyPr>
          <a:lstStyle/>
          <a:p>
            <a:pPr marL="0" lvl="0" indent="0" algn="l" rtl="0">
              <a:lnSpc>
                <a:spcPct val="115000"/>
              </a:lnSpc>
              <a:spcBef>
                <a:spcPts val="0"/>
              </a:spcBef>
              <a:spcAft>
                <a:spcPts val="0"/>
              </a:spcAft>
              <a:buNone/>
            </a:pPr>
            <a:r>
              <a:rPr lang="en" sz="2100" b="1">
                <a:solidFill>
                  <a:srgbClr val="F46524"/>
                </a:solidFill>
                <a:latin typeface="Lato"/>
                <a:ea typeface="Lato"/>
                <a:cs typeface="Lato"/>
                <a:sym typeface="Lato"/>
              </a:rPr>
              <a:t>Exploratory  data Analysis on Superstore</a:t>
            </a:r>
            <a:endParaRPr sz="2100" b="1">
              <a:solidFill>
                <a:srgbClr val="F46524"/>
              </a:solidFill>
              <a:latin typeface="Lato"/>
              <a:ea typeface="Lato"/>
              <a:cs typeface="Lato"/>
              <a:sym typeface="Lato"/>
            </a:endParaRPr>
          </a:p>
          <a:p>
            <a:pPr marL="457200" lvl="0" indent="-342900" algn="l" rtl="0">
              <a:lnSpc>
                <a:spcPct val="115000"/>
              </a:lnSpc>
              <a:spcBef>
                <a:spcPts val="1600"/>
              </a:spcBef>
              <a:spcAft>
                <a:spcPts val="0"/>
              </a:spcAft>
              <a:buClr>
                <a:srgbClr val="000000"/>
              </a:buClr>
              <a:buSzPts val="1800"/>
              <a:buFont typeface="Lato"/>
              <a:buChar char="●"/>
            </a:pPr>
            <a:r>
              <a:rPr lang="en" sz="1800">
                <a:solidFill>
                  <a:srgbClr val="000000"/>
                </a:solidFill>
                <a:latin typeface="Lato"/>
                <a:ea typeface="Lato"/>
                <a:cs typeface="Lato"/>
                <a:sym typeface="Lato"/>
              </a:rPr>
              <a:t>The dataset consisted of sales data from a sample superstore in terms of ship mode, the category and sub-category of sold products, discount applied on each sold product and the profit obtained from it</a:t>
            </a:r>
            <a:endParaRPr sz="1800">
              <a:solidFill>
                <a:srgbClr val="000000"/>
              </a:solidFill>
              <a:latin typeface="Lato"/>
              <a:ea typeface="Lato"/>
              <a:cs typeface="Lato"/>
              <a:sym typeface="Lato"/>
            </a:endParaRPr>
          </a:p>
          <a:p>
            <a:pPr marL="457200" lvl="0" indent="-342900" algn="l" rtl="0">
              <a:lnSpc>
                <a:spcPct val="115000"/>
              </a:lnSpc>
              <a:spcBef>
                <a:spcPts val="0"/>
              </a:spcBef>
              <a:spcAft>
                <a:spcPts val="0"/>
              </a:spcAft>
              <a:buClr>
                <a:srgbClr val="000000"/>
              </a:buClr>
              <a:buSzPts val="1800"/>
              <a:buFont typeface="Lato"/>
              <a:buChar char="●"/>
            </a:pPr>
            <a:r>
              <a:rPr lang="en" sz="1800">
                <a:solidFill>
                  <a:srgbClr val="000000"/>
                </a:solidFill>
                <a:latin typeface="Lato"/>
                <a:ea typeface="Lato"/>
                <a:cs typeface="Lato"/>
                <a:sym typeface="Lato"/>
              </a:rPr>
              <a:t>It also specified the type of customer who bought the product along with the quantity of each product</a:t>
            </a:r>
            <a:endParaRPr sz="1800">
              <a:solidFill>
                <a:srgbClr val="000000"/>
              </a:solidFill>
              <a:latin typeface="Lato"/>
              <a:ea typeface="Lato"/>
              <a:cs typeface="Lato"/>
              <a:sym typeface="Lato"/>
            </a:endParaRPr>
          </a:p>
          <a:p>
            <a:pPr marL="457200" lvl="0" indent="-342900" algn="l" rtl="0">
              <a:lnSpc>
                <a:spcPct val="115000"/>
              </a:lnSpc>
              <a:spcBef>
                <a:spcPts val="1200"/>
              </a:spcBef>
              <a:spcAft>
                <a:spcPts val="1200"/>
              </a:spcAft>
              <a:buClr>
                <a:srgbClr val="000000"/>
              </a:buClr>
              <a:buSzPts val="1800"/>
              <a:buFont typeface="Lato"/>
              <a:buChar char="●"/>
            </a:pPr>
            <a:r>
              <a:rPr lang="en" sz="1800">
                <a:solidFill>
                  <a:srgbClr val="000000"/>
                </a:solidFill>
                <a:latin typeface="Lato"/>
                <a:ea typeface="Lato"/>
                <a:cs typeface="Lato"/>
                <a:sym typeface="Lato"/>
              </a:rPr>
              <a:t>Z-score was calculated based on the value of ‘Sales’ attribute and outliers were detected and removed from the dataset whose Z-score was out of bounds(Z-score&lt;3)</a:t>
            </a:r>
            <a:endParaRPr sz="26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71"/>
        <p:cNvGrpSpPr/>
        <p:nvPr/>
      </p:nvGrpSpPr>
      <p:grpSpPr>
        <a:xfrm>
          <a:off x="0" y="0"/>
          <a:ext cx="0" cy="0"/>
          <a:chOff x="0" y="0"/>
          <a:chExt cx="0" cy="0"/>
        </a:xfrm>
      </p:grpSpPr>
      <p:pic>
        <p:nvPicPr>
          <p:cNvPr id="172" name="Google Shape;172;p21"/>
          <p:cNvPicPr preferRelativeResize="0"/>
          <p:nvPr/>
        </p:nvPicPr>
        <p:blipFill>
          <a:blip r:embed="rId3">
            <a:alphaModFix/>
          </a:blip>
          <a:stretch>
            <a:fillRect/>
          </a:stretch>
        </p:blipFill>
        <p:spPr>
          <a:xfrm>
            <a:off x="304800" y="330975"/>
            <a:ext cx="8558926" cy="4132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2"/>
          <p:cNvSpPr txBox="1">
            <a:spLocks noGrp="1"/>
          </p:cNvSpPr>
          <p:nvPr>
            <p:ph type="body" idx="1"/>
          </p:nvPr>
        </p:nvSpPr>
        <p:spPr>
          <a:xfrm>
            <a:off x="466375" y="627900"/>
            <a:ext cx="4038900" cy="3810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latin typeface="Lato"/>
              <a:ea typeface="Lato"/>
              <a:cs typeface="Lato"/>
              <a:sym typeface="Lato"/>
            </a:endParaRPr>
          </a:p>
          <a:p>
            <a:pPr marL="0" lvl="0" indent="0" algn="l" rtl="0">
              <a:spcBef>
                <a:spcPts val="1200"/>
              </a:spcBef>
              <a:spcAft>
                <a:spcPts val="0"/>
              </a:spcAft>
              <a:buNone/>
            </a:pPr>
            <a:endParaRPr>
              <a:latin typeface="Lato"/>
              <a:ea typeface="Lato"/>
              <a:cs typeface="Lato"/>
              <a:sym typeface="Lato"/>
            </a:endParaRPr>
          </a:p>
          <a:p>
            <a:pPr marL="0" lvl="0" indent="0" algn="l" rtl="0">
              <a:spcBef>
                <a:spcPts val="1200"/>
              </a:spcBef>
              <a:spcAft>
                <a:spcPts val="0"/>
              </a:spcAft>
              <a:buNone/>
            </a:pPr>
            <a:endParaRPr>
              <a:latin typeface="Lato"/>
              <a:ea typeface="Lato"/>
              <a:cs typeface="Lato"/>
              <a:sym typeface="Lato"/>
            </a:endParaRPr>
          </a:p>
          <a:p>
            <a:pPr marL="0" lvl="0" indent="0" algn="l" rtl="0">
              <a:spcBef>
                <a:spcPts val="1200"/>
              </a:spcBef>
              <a:spcAft>
                <a:spcPts val="0"/>
              </a:spcAft>
              <a:buNone/>
            </a:pPr>
            <a:endParaRPr>
              <a:latin typeface="Lato"/>
              <a:ea typeface="Lato"/>
              <a:cs typeface="Lato"/>
              <a:sym typeface="Lato"/>
            </a:endParaRPr>
          </a:p>
          <a:p>
            <a:pPr marL="0" lvl="0" indent="0" algn="l" rtl="0">
              <a:lnSpc>
                <a:spcPct val="100000"/>
              </a:lnSpc>
              <a:spcBef>
                <a:spcPts val="1200"/>
              </a:spcBef>
              <a:spcAft>
                <a:spcPts val="0"/>
              </a:spcAft>
              <a:buNone/>
            </a:pPr>
            <a:r>
              <a:rPr lang="en" sz="3600" b="1">
                <a:solidFill>
                  <a:srgbClr val="F46524"/>
                </a:solidFill>
                <a:latin typeface="Raleway"/>
                <a:ea typeface="Raleway"/>
                <a:cs typeface="Raleway"/>
                <a:sym typeface="Raleway"/>
              </a:rPr>
              <a:t>Skills Learned</a:t>
            </a:r>
            <a:endParaRPr>
              <a:latin typeface="Lato"/>
              <a:ea typeface="Lato"/>
              <a:cs typeface="Lato"/>
              <a:sym typeface="Lato"/>
            </a:endParaRPr>
          </a:p>
        </p:txBody>
      </p:sp>
      <p:sp>
        <p:nvSpPr>
          <p:cNvPr id="178" name="Google Shape;178;p22"/>
          <p:cNvSpPr txBox="1">
            <a:spLocks noGrp="1"/>
          </p:cNvSpPr>
          <p:nvPr>
            <p:ph type="body" idx="2"/>
          </p:nvPr>
        </p:nvSpPr>
        <p:spPr>
          <a:xfrm>
            <a:off x="4638675" y="627825"/>
            <a:ext cx="3964200" cy="3810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000000"/>
              </a:buClr>
              <a:buSzPts val="1800"/>
              <a:buFont typeface="Lato"/>
              <a:buChar char="●"/>
            </a:pPr>
            <a:r>
              <a:rPr lang="en" sz="1800">
                <a:solidFill>
                  <a:srgbClr val="000000"/>
                </a:solidFill>
                <a:latin typeface="Lato"/>
                <a:ea typeface="Lato"/>
                <a:cs typeface="Lato"/>
                <a:sym typeface="Lato"/>
              </a:rPr>
              <a:t>Working with data and data cleansing</a:t>
            </a:r>
            <a:endParaRPr sz="1800">
              <a:solidFill>
                <a:srgbClr val="000000"/>
              </a:solidFill>
              <a:latin typeface="Lato"/>
              <a:ea typeface="Lato"/>
              <a:cs typeface="Lato"/>
              <a:sym typeface="Lato"/>
            </a:endParaRPr>
          </a:p>
          <a:p>
            <a:pPr marL="457200" lvl="0" indent="-342900" algn="l" rtl="0">
              <a:spcBef>
                <a:spcPts val="0"/>
              </a:spcBef>
              <a:spcAft>
                <a:spcPts val="0"/>
              </a:spcAft>
              <a:buClr>
                <a:srgbClr val="000000"/>
              </a:buClr>
              <a:buSzPts val="1800"/>
              <a:buFont typeface="Lato"/>
              <a:buChar char="●"/>
            </a:pPr>
            <a:r>
              <a:rPr lang="en" sz="1800">
                <a:solidFill>
                  <a:srgbClr val="000000"/>
                </a:solidFill>
                <a:latin typeface="Lato"/>
                <a:ea typeface="Lato"/>
                <a:cs typeface="Lato"/>
                <a:sym typeface="Lato"/>
              </a:rPr>
              <a:t>Using various data visualization libraries in python</a:t>
            </a:r>
            <a:endParaRPr sz="1800">
              <a:solidFill>
                <a:srgbClr val="000000"/>
              </a:solidFill>
              <a:latin typeface="Lato"/>
              <a:ea typeface="Lato"/>
              <a:cs typeface="Lato"/>
              <a:sym typeface="Lato"/>
            </a:endParaRPr>
          </a:p>
          <a:p>
            <a:pPr marL="457200" lvl="0" indent="-342900" algn="l" rtl="0">
              <a:spcBef>
                <a:spcPts val="0"/>
              </a:spcBef>
              <a:spcAft>
                <a:spcPts val="0"/>
              </a:spcAft>
              <a:buClr>
                <a:srgbClr val="000000"/>
              </a:buClr>
              <a:buSzPts val="1800"/>
              <a:buFont typeface="Lato"/>
              <a:buChar char="●"/>
            </a:pPr>
            <a:r>
              <a:rPr lang="en" sz="1800">
                <a:solidFill>
                  <a:srgbClr val="000000"/>
                </a:solidFill>
                <a:latin typeface="Lato"/>
                <a:ea typeface="Lato"/>
                <a:cs typeface="Lato"/>
                <a:sym typeface="Lato"/>
              </a:rPr>
              <a:t>Handling Textual Data.</a:t>
            </a:r>
            <a:endParaRPr sz="1800">
              <a:solidFill>
                <a:srgbClr val="000000"/>
              </a:solidFill>
              <a:latin typeface="Lato"/>
              <a:ea typeface="Lato"/>
              <a:cs typeface="Lato"/>
              <a:sym typeface="Lato"/>
            </a:endParaRPr>
          </a:p>
          <a:p>
            <a:pPr marL="457200" lvl="0" indent="-342900" algn="l" rtl="0">
              <a:spcBef>
                <a:spcPts val="0"/>
              </a:spcBef>
              <a:spcAft>
                <a:spcPts val="0"/>
              </a:spcAft>
              <a:buClr>
                <a:srgbClr val="000000"/>
              </a:buClr>
              <a:buSzPts val="1800"/>
              <a:buFont typeface="Lato"/>
              <a:buChar char="●"/>
            </a:pPr>
            <a:r>
              <a:rPr lang="en" sz="1800">
                <a:solidFill>
                  <a:srgbClr val="000000"/>
                </a:solidFill>
                <a:latin typeface="Lato"/>
                <a:ea typeface="Lato"/>
                <a:cs typeface="Lato"/>
                <a:sym typeface="Lato"/>
              </a:rPr>
              <a:t>Training and evaluating the performance of machine learning models</a:t>
            </a:r>
            <a:endParaRPr sz="1800">
              <a:solidFill>
                <a:srgbClr val="000000"/>
              </a:solidFill>
              <a:latin typeface="Lato"/>
              <a:ea typeface="Lato"/>
              <a:cs typeface="Lato"/>
              <a:sym typeface="Lato"/>
            </a:endParaRPr>
          </a:p>
          <a:p>
            <a:pPr marL="457200" lvl="0" indent="-342900" algn="l" rtl="0">
              <a:spcBef>
                <a:spcPts val="0"/>
              </a:spcBef>
              <a:spcAft>
                <a:spcPts val="0"/>
              </a:spcAft>
              <a:buClr>
                <a:srgbClr val="000000"/>
              </a:buClr>
              <a:buSzPts val="1800"/>
              <a:buFont typeface="Lato"/>
              <a:buChar char="●"/>
            </a:pPr>
            <a:r>
              <a:rPr lang="en" sz="1800">
                <a:solidFill>
                  <a:srgbClr val="000000"/>
                </a:solidFill>
                <a:latin typeface="Lato"/>
                <a:ea typeface="Lato"/>
                <a:cs typeface="Lato"/>
                <a:sym typeface="Lato"/>
              </a:rPr>
              <a:t>Usage of various parameters such as correlation coefficient,RMSE,Z-Score.</a:t>
            </a:r>
            <a:endParaRPr sz="1800">
              <a:solidFill>
                <a:srgbClr val="000000"/>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310</Words>
  <Application>Microsoft Office PowerPoint</Application>
  <PresentationFormat>On-screen Show (16:9)</PresentationFormat>
  <Paragraphs>41</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Shift</vt:lpstr>
      <vt:lpstr>Title: Data Science and Business Analytics Internship</vt:lpstr>
      <vt:lpstr>        Overview</vt:lpstr>
      <vt:lpstr>Stock Market Prediction </vt:lpstr>
      <vt:lpstr>PowerPoint Presentation</vt:lpstr>
      <vt:lpstr>Dataset</vt:lpstr>
      <vt:lpstr>Initially  using only the sensex dataset an ARIMA Model was trained. Then the root mean square error was calculated using the test dataset. Including the news data in the dataset reported a significant decrease in the mean square error and led to more accurate predictions.</vt:lpstr>
      <vt:lpstr>PowerPoint Presentation</vt:lpstr>
      <vt:lpstr>Exploratory  data Analysis on Superstore The dataset consisted of sales data from a sample superstore in terms of ship mode, the category and sub-category of sold products, discount applied on each sold product and the profit obtained from it It also specified the type of customer who bought the product along with the quantity of each product Z-score was calculated based on the value of ‘Sales’ attribute and outliers were detected and removed from the dataset whose Z-score was out of bounds(Z-score&lt;3)</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Data Science and Business Analytics Internship</dc:title>
  <cp:lastModifiedBy>Unknown User</cp:lastModifiedBy>
  <cp:revision>2</cp:revision>
  <dcterms:modified xsi:type="dcterms:W3CDTF">2022-02-15T15:23:23Z</dcterms:modified>
</cp:coreProperties>
</file>